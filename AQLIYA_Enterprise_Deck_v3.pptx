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S1: Hero
"نحن هنا لأن لديكم تحدياً في الحوكمة — وليس مجرد حاجة لأداة ذكاء اصطناعي."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S2: اسأل الجمهور: أيٌّ من هذه التحديات تعانون منه؟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S3: أظهر أن سلسلة العواقب حتمية بدون نظام حوكمة. كل خطوة تضاعف التكلفة.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S4: نحن لا نقارن — نحن في فئة مختلفة: حوكمة مسار العمل. لا Excel يفعل ذلك.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S5: هذه ليست أدوات منفصلة. نواة مشتركة واحدة تُبنى عليها كل الأنظمة.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S6: من ميزان المراجعة الخام إلى الاعتماد النهائي — 9 مراحل كل منها موثقة ومرتبطة بالأدلة.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S7: ثلاثة KPIs فقط. الجمهور يتذكر الأرقام والرموز، لا القوائم.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S8: دورة المحتوى المحلي — من الموردين إلى تقرير الامتثال المعتمد.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S9: الرسالة الرئيسية: لا تنتظروا موسم التقارير. البيانات جاهزة دائماً.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S10: Governance is architecture, not a feature. كل نظام مبني عليها من الأساس.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S11: أهم رسالة للإدارة العليا: الذكاء الاصطناعي بلا حوكمة = خطر. مع AQLIYA = قيمة مضمونة.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S12: 8 أسابيع فقط. نطاق محدود. نتائج قابلة للقياس. لا مخاطر ضخمة.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S13: التحول ليس وعداً — هو مخرج قابل للقياس ضمن شروط البايلوت المتفق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S14: خمس حقائق. خمس جمل. الجمهور لا يحتاج لأكثر من ذلك.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S15: "نحن جاهزون للبدء. ما الذي يمنعكم من تجربة نطاق واحد؟"
الخطوات: التواصل ← تحديد النطاق ← بدء البايلوت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7772400" cy="7772400"/>
          </a:xfrm>
          <a:prstGeom prst="ellipse">
            <a:avLst/>
          </a:prstGeom>
          <a:solidFill>
            <a:srgbClr val="1E3A8A">
              <a:alpha val="12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1097280"/>
            <a:ext cx="4572000" cy="45720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474720"/>
            <a:ext cx="5486400" cy="5486400"/>
          </a:xfrm>
          <a:prstGeom prst="ellipse">
            <a:avLst/>
          </a:prstGeom>
          <a:solidFill>
            <a:srgbClr val="2D388A">
              <a:alpha val="8000"/>
            </a:srgbClr>
          </a:solidFill>
          <a:ln w="12700">
            <a:solidFill>
              <a:srgbClr val="2D388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6" name="Image 0" descr="/sessions/trusting-keen-hawking/mnt/Aqliya/public/brand/png/White logo - no 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7472"/>
            <a:ext cx="21945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3716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حين يعمل الذكاء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365760" y="233172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000" b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داخل حوكمة المؤسسة</a:t>
            </a:r>
            <a:endParaRPr lang="en-US" sz="5000" dirty="0"/>
          </a:p>
        </p:txBody>
      </p:sp>
      <p:sp>
        <p:nvSpPr>
          <p:cNvPr id="9" name="Shape 6"/>
          <p:cNvSpPr/>
          <p:nvPr/>
        </p:nvSpPr>
        <p:spPr>
          <a:xfrm>
            <a:off x="365760" y="3456432"/>
            <a:ext cx="6858000" cy="0"/>
          </a:xfrm>
          <a:prstGeom prst="line">
            <a:avLst/>
          </a:prstGeom>
          <a:noFill/>
          <a:ln w="1905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3611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9BBFD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الذكاء يساعد · الإنسان يقرر · الدليل يحكم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365760" y="4526280"/>
            <a:ext cx="2743200" cy="457200"/>
          </a:xfrm>
          <a:prstGeom prst="rect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383280" y="4526280"/>
            <a:ext cx="2743200" cy="457200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83280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LocalContentOS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0" y="4526280"/>
            <a:ext cx="2743200" cy="457200"/>
          </a:xfrm>
          <a:prstGeom prst="rect">
            <a:avLst/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Pilot-Ready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5760" y="626364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مكتب مراجعة قانونية ومحتوى محلي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A0F24"/>
          </a:solidFill>
          <a:ln w="12700">
            <a:solidFill>
              <a:srgbClr val="0A0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0"/>
            <a:ext cx="54864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4" name="Image 0" descr="/sessions/trusting-keen-hawking/mnt/Aqliya/public/brand/png/White logo - no 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47472"/>
            <a:ext cx="201168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6459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المعلومات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274320" y="24688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مشتتة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365760" y="3429000"/>
            <a:ext cx="3474720" cy="0"/>
          </a:xfrm>
          <a:prstGeom prst="line">
            <a:avLst/>
          </a:prstGeom>
          <a:noFill/>
          <a:ln w="1905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35661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9BBFD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والمسار التشغيلي غائب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840480" y="62179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65760"/>
            <a:ext cx="731520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كل قرار غير موثق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EF4444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ثمن مؤجل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686800" y="457200"/>
            <a:ext cx="3200400" cy="2011680"/>
          </a:xfrm>
          <a:prstGeom prst="rect">
            <a:avLst/>
          </a:prstGeom>
          <a:solidFill>
            <a:srgbClr val="1E3A8A">
              <a:alpha val="2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0" y="457200"/>
            <a:ext cx="320040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rtl="1" algn="ctr" indent="0" marL="0">
              <a:buNone/>
            </a:pPr>
            <a:r>
              <a:rPr lang="en-US" sz="1500" i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"بلا حوكمة،</a:t>
            </a:r>
            <a:endParaRPr lang="en-US" sz="1500" dirty="0"/>
          </a:p>
          <a:p>
            <a:pPr rtl="1" algn="ctr" indent="0" marL="0">
              <a:buNone/>
            </a:pPr>
            <a:r>
              <a:rPr lang="en-US" sz="1500" i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الخطأ لا يُكتشف</a:t>
            </a:r>
            <a:endParaRPr lang="en-US" sz="1500" dirty="0"/>
          </a:p>
          <a:p>
            <a:pPr rtl="1" algn="ctr" indent="0" marL="0">
              <a:buNone/>
            </a:pPr>
            <a:r>
              <a:rPr lang="en-US" sz="1500" i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حتى يصبح أزمة"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920240"/>
            <a:ext cx="1188720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80760" y="0"/>
            <a:ext cx="6080760" cy="6858000"/>
          </a:xfrm>
          <a:prstGeom prst="rect">
            <a:avLst/>
          </a:prstGeom>
          <a:solidFill>
            <a:srgbClr val="0A0F24"/>
          </a:solidFill>
          <a:ln w="12700">
            <a:solidFill>
              <a:srgbClr val="0A0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0"/>
            <a:ext cx="45720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الأدوات التقليدية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42316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Sheets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078992"/>
            <a:ext cx="246888" cy="246888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0789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17520" y="1005840"/>
            <a:ext cx="242316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0058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0" y="1078992"/>
            <a:ext cx="246888" cy="246888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0789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242316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AI tools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560320" y="2359152"/>
            <a:ext cx="246888" cy="246888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23591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17520" y="2286000"/>
            <a:ext cx="242316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Platforms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20640" y="2359152"/>
            <a:ext cx="246888" cy="246888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3591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370332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6393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لا مسار محكوم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14223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07822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لا ربط للأدلة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4581144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51713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لا سجل تدقيق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5020056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95604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لا مراجعة بشرية إلزامية</a:t>
            </a:r>
            <a:endParaRPr lang="en-US" sz="1400" dirty="0"/>
          </a:p>
        </p:txBody>
      </p:sp>
      <p:pic>
        <p:nvPicPr>
          <p:cNvPr id="29" name="Image 0" descr="/sessions/trusting-keen-hawking/mnt/Aqliya/public/brand/png/White logo - no 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74320"/>
            <a:ext cx="1828800" cy="50292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217920" y="9144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حوكمة مسار العمل</a:t>
            </a:r>
            <a:endParaRPr lang="en-US" sz="2400" dirty="0"/>
          </a:p>
        </p:txBody>
      </p:sp>
      <p:sp>
        <p:nvSpPr>
          <p:cNvPr id="31" name="Shape 28"/>
          <p:cNvSpPr/>
          <p:nvPr/>
        </p:nvSpPr>
        <p:spPr>
          <a:xfrm>
            <a:off x="11631168" y="1883664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63640" y="1755648"/>
            <a:ext cx="5230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مسار محكوم متكامل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1631168" y="2542032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63640" y="2414016"/>
            <a:ext cx="5230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سلسلة أدلة كاملة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11631168" y="3200400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63640" y="3072384"/>
            <a:ext cx="5230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سجل تدقيق لا يُحذف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1631168" y="3858768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63640" y="3730752"/>
            <a:ext cx="5230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مراجعة بشرية إلزامية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217920" y="4663440"/>
            <a:ext cx="5669280" cy="594360"/>
          </a:xfrm>
          <a:prstGeom prst="rect">
            <a:avLst/>
          </a:prstGeom>
          <a:solidFill>
            <a:srgbClr val="1E3A8A">
              <a:alpha val="25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17920" y="466344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عربية أولاً · مبنية للسوق السعودي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11704320" y="6309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3" name="Image 0" descr="/sessions/trusting-keen-hawking/mnt/Aqliya/public/brand/png/White logo - no 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56032"/>
            <a:ext cx="182880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005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بنية واحدة. أنظمة لا حدود لها.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274320" y="1719072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AQLIYA Intelligence Core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2331720"/>
            <a:ext cx="4114800" cy="0"/>
          </a:xfrm>
          <a:prstGeom prst="line">
            <a:avLst/>
          </a:prstGeom>
          <a:noFill/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24688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9BBFD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كل نظام يشارك نفس منطق الحوكمة، الأدلة، والمراجعة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704320" y="6309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7160"/>
            <a:ext cx="758952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3" name="Image 0" descr="/sessions/trusting-keen-hawking/mnt/Aqliya/public/brand/png/Color logo - no 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82880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8686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AuditOS</a:t>
            </a:r>
            <a:endParaRPr lang="en-US" sz="6800" dirty="0"/>
          </a:p>
        </p:txBody>
      </p:sp>
      <p:sp>
        <p:nvSpPr>
          <p:cNvPr id="5" name="Shape 2"/>
          <p:cNvSpPr/>
          <p:nvPr/>
        </p:nvSpPr>
        <p:spPr>
          <a:xfrm>
            <a:off x="274320" y="1901952"/>
            <a:ext cx="4572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938528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مسار المراجعة المالية المحكوم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74320" y="2724912"/>
            <a:ext cx="1828800" cy="384048"/>
          </a:xfrm>
          <a:prstGeom prst="rect">
            <a:avLst/>
          </a:prstGeom>
          <a:solidFill>
            <a:srgbClr val="10B981">
              <a:alpha val="8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27249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Pilot-Ready ✓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2926080"/>
            <a:ext cx="11887200" cy="3657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0" y="6263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5B7A9E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القيمة التشغيلية · AuditOS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73152" cy="5120640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200" b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↑ جودة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المراجعة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i="1" dirty="0">
                <a:solidFill>
                  <a:srgbClr val="7A9FC0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مخرجات مرتبطة بالأدلة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960120"/>
            <a:ext cx="73152" cy="5120640"/>
          </a:xfrm>
          <a:prstGeom prst="rect">
            <a:avLst/>
          </a:prstGeom>
          <a:solidFill>
            <a:srgbClr val="2563EB">
              <a:alpha val="7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0972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200" b="1" dirty="0">
                <a:solidFill>
                  <a:srgbClr val="2563E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100%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4480560" y="32004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توثيق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480560" y="40690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i="1" dirty="0">
                <a:solidFill>
                  <a:srgbClr val="7A9FC0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كل قرار موثق بالهوية والوقت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960120"/>
            <a:ext cx="73152" cy="512064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0972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200" b="1" dirty="0">
                <a:solidFill>
                  <a:srgbClr val="10B981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↓ وقت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8321040" y="32004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الدورة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321040" y="40690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i="1" dirty="0">
                <a:solidFill>
                  <a:srgbClr val="7A9FC0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لا متابعة يدوية. لا فوضى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5074920"/>
            <a:ext cx="11430000" cy="640080"/>
          </a:xfrm>
          <a:prstGeom prst="rect">
            <a:avLst/>
          </a:prstGeom>
          <a:solidFill>
            <a:srgbClr val="1E3A8A">
              <a:alpha val="25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50749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AuditOS يضاعف قدرة المراجع — لا يستبدله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704320" y="6309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" name="Image 0" descr="/sessions/trusting-keen-hawking/mnt/Aqliya/public/brand/png/Color logo - no 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82880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8686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LocalContentOS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274320" y="1810512"/>
            <a:ext cx="4572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938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قياس المحتوى المحلي · إدارة الموردين والامتثال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74320" y="2542032"/>
            <a:ext cx="2560320" cy="384048"/>
          </a:xfrm>
          <a:prstGeom prst="rect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2542032"/>
            <a:ext cx="31089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جاهز للتجربة — بشروط معلنة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74320"/>
            <a:ext cx="8138160" cy="6492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0" y="6263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5B7A9E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القيمة التشغيلية · LocalContentOS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73152" cy="5120640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200" b="1" dirty="0">
                <a:solidFill>
                  <a:srgbClr val="0891B2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دقيق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قياس المحتوى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i="1" dirty="0">
                <a:solidFill>
                  <a:srgbClr val="7A9FC0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نسب مؤكدة بالأدلة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960120"/>
            <a:ext cx="73152" cy="512064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0972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200" b="1" dirty="0">
                <a:solidFill>
                  <a:srgbClr val="10B981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فوري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4480560" y="32004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الامتثال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480560" y="40690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i="1" dirty="0">
                <a:solidFill>
                  <a:srgbClr val="7A9FC0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تقارير جاهزة في أي وقت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960120"/>
            <a:ext cx="73152" cy="5120640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0972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200" b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مرئي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8321040" y="32004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سجل الموردين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321040" y="40690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i="1" dirty="0">
                <a:solidFill>
                  <a:srgbClr val="7A9FC0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تصنيف وتتبع كامل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5074920"/>
            <a:ext cx="11430000" cy="640080"/>
          </a:xfrm>
          <a:prstGeom prst="rect">
            <a:avLst/>
          </a:prstGeom>
          <a:solidFill>
            <a:srgbClr val="0C4A58">
              <a:alpha val="8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50749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891B2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الامتثال ليس موسمياً — هو حالة دائمة في النظام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704320" y="6309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" name="Image 0" descr="/sessions/trusting-keen-hawking/mnt/Aqliya/public/brand/png/White logo - no 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182880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0515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الحوكمة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274320" y="181051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هي البنية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274320" y="257860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لا الميزة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365760" y="3520440"/>
            <a:ext cx="3474720" cy="0"/>
          </a:xfrm>
          <a:prstGeom prst="line">
            <a:avLst/>
          </a:prstGeom>
          <a:noFill/>
          <a:ln w="190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36576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9BBFD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ست ركائز. بنية واحدة. ثقة مؤسسية كاملة.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74320" y="6263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82880"/>
            <a:ext cx="804672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/sessions/trusting-keen-hawking/mnt/Aqliya/public/brand/png/White logo - no 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182880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00584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الذكاء يساعد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274320" y="1828800"/>
            <a:ext cx="1170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200" b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الإنسان يقرر دائماً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365760" y="2788920"/>
            <a:ext cx="11430000" cy="0"/>
          </a:xfrm>
          <a:prstGeom prst="line">
            <a:avLst/>
          </a:prstGeom>
          <a:noFill/>
          <a:ln w="19050">
            <a:solidFill>
              <a:srgbClr val="0EA5E9">
                <a:alpha val="4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971800"/>
            <a:ext cx="11612880" cy="3474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0" y="6309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/sessions/trusting-keen-hawking/mnt/Aqliya/public/brand/png/Color logo - no 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82880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731520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000" b="1" dirty="0">
                <a:solidFill>
                  <a:srgbClr val="1E3A8A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نبدأ صغيراً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274320" y="153619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000" b="1" dirty="0">
                <a:solidFill>
                  <a:srgbClr val="2563E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ونقيس كل خطوة</a:t>
            </a:r>
            <a:endParaRPr lang="en-US" sz="5000" dirty="0"/>
          </a:p>
        </p:txBody>
      </p:sp>
      <p:sp>
        <p:nvSpPr>
          <p:cNvPr id="6" name="Shape 3"/>
          <p:cNvSpPr/>
          <p:nvPr/>
        </p:nvSpPr>
        <p:spPr>
          <a:xfrm>
            <a:off x="274320" y="2788920"/>
            <a:ext cx="5029200" cy="475488"/>
          </a:xfrm>
          <a:prstGeom prst="rect">
            <a:avLst/>
          </a:prstGeom>
          <a:solidFill>
            <a:srgbClr val="1E3A8A">
              <a:alpha val="12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278892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نطاق واحد · بيانات حقيقية · معايير واضحة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3154680"/>
            <a:ext cx="11868912" cy="33832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0" y="6309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EF4444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من الفوضى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إلى النظام</a:t>
            </a:r>
            <a:endParaRPr lang="en-US" sz="4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810512"/>
            <a:ext cx="1188720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6172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↑ الحوكمة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206240" y="6172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↑ الثقة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138160" y="6172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↓ المخاطر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704320" y="6309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6400800" cy="6400800"/>
          </a:xfrm>
          <a:prstGeom prst="ellipse">
            <a:avLst/>
          </a:prstGeom>
          <a:solidFill>
            <a:srgbClr val="1E3A8A">
              <a:alpha val="12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2286000"/>
            <a:ext cx="4572000" cy="4572000"/>
          </a:xfrm>
          <a:prstGeom prst="ellipse">
            <a:avLst/>
          </a:prstGeom>
          <a:solidFill>
            <a:srgbClr val="0EA5E9">
              <a:alpha val="8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pic>
        <p:nvPicPr>
          <p:cNvPr id="4" name="Image 0" descr="/sessions/trusting-keen-hawking/mnt/Aqliya/public/brand/png/White logo - no 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182880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0972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عربية أولاً. مبنية لك.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5760" y="1938528"/>
            <a:ext cx="6400800" cy="0"/>
          </a:xfrm>
          <a:prstGeom prst="line">
            <a:avLst/>
          </a:prstGeom>
          <a:noFill/>
          <a:ln w="12700">
            <a:solidFill>
              <a:srgbClr val="1E3A8A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20574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الحوكمة ليست خياراً.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365760" y="2898648"/>
            <a:ext cx="6400800" cy="0"/>
          </a:xfrm>
          <a:prstGeom prst="line">
            <a:avLst/>
          </a:prstGeom>
          <a:noFill/>
          <a:ln w="12700">
            <a:solidFill>
              <a:srgbClr val="1E3A8A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30175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كل قرار قابل للمراجعة.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65760" y="3858768"/>
            <a:ext cx="6400800" cy="0"/>
          </a:xfrm>
          <a:prstGeom prst="line">
            <a:avLst/>
          </a:prstGeom>
          <a:noFill/>
          <a:ln w="12700">
            <a:solidFill>
              <a:srgbClr val="1E3A8A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39776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الذكاء يساعد. الإنسان يقرر.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365760" y="4818888"/>
            <a:ext cx="6400800" cy="0"/>
          </a:xfrm>
          <a:prstGeom prst="line">
            <a:avLst/>
          </a:prstGeom>
          <a:noFill/>
          <a:ln w="12700">
            <a:solidFill>
              <a:srgbClr val="1E3A8A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4937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جاهزون للبدء معك الآن.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1704320" y="6309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8229600" cy="8229600"/>
          </a:xfrm>
          <a:prstGeom prst="ellipse">
            <a:avLst/>
          </a:prstGeom>
          <a:solidFill>
            <a:srgbClr val="1E3A8A">
              <a:alpha val="12000"/>
            </a:srgbClr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2286000"/>
            <a:ext cx="5029200" cy="5029200"/>
          </a:xfrm>
          <a:prstGeom prst="ellipse">
            <a:avLst/>
          </a:prstGeom>
          <a:solidFill>
            <a:srgbClr val="0EA5E9">
              <a:alpha val="8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793992"/>
            <a:ext cx="12161520" cy="6400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6" name="Image 0" descr="/sessions/trusting-keen-hawking/mnt/Aqliya/public/brand/png/White logo - no 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228600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6032" y="1371600"/>
            <a:ext cx="9144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من المعلومات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256032" y="2212848"/>
            <a:ext cx="8686800" cy="0"/>
          </a:xfrm>
          <a:prstGeom prst="line">
            <a:avLst/>
          </a:prstGeom>
          <a:noFill/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" y="2286000"/>
            <a:ext cx="9144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إلى المعرفة</a:t>
            </a:r>
            <a:endParaRPr lang="en-US" sz="4400" dirty="0"/>
          </a:p>
        </p:txBody>
      </p:sp>
      <p:sp>
        <p:nvSpPr>
          <p:cNvPr id="10" name="Shape 7"/>
          <p:cNvSpPr/>
          <p:nvPr/>
        </p:nvSpPr>
        <p:spPr>
          <a:xfrm>
            <a:off x="256032" y="3127248"/>
            <a:ext cx="8686800" cy="0"/>
          </a:xfrm>
          <a:prstGeom prst="line">
            <a:avLst/>
          </a:prstGeom>
          <a:noFill/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3200400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إلى قرارات قابلة للمساءلة</a:t>
            </a:r>
            <a:endParaRPr lang="en-US" sz="3800" dirty="0"/>
          </a:p>
        </p:txBody>
      </p:sp>
      <p:sp>
        <p:nvSpPr>
          <p:cNvPr id="12" name="Shape 9"/>
          <p:cNvSpPr/>
          <p:nvPr/>
        </p:nvSpPr>
        <p:spPr>
          <a:xfrm>
            <a:off x="256032" y="4187952"/>
            <a:ext cx="7772400" cy="658368"/>
          </a:xfrm>
          <a:prstGeom prst="rect">
            <a:avLst/>
          </a:prstGeom>
          <a:solidFill>
            <a:srgbClr val="1E3A8A">
              <a:alpha val="3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6032" y="4187952"/>
            <a:ext cx="7772400" cy="6583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EA5E9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الذكاء يساعد · الإنسان يقرر · الدليل يحكم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56032" y="51389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ragheed@aqliya.com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6032" y="5577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BA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aqliya.com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046720" y="4937760"/>
            <a:ext cx="3840480" cy="868680"/>
          </a:xfrm>
          <a:prstGeom prst="rect">
            <a:avLst/>
          </a:prstGeom>
          <a:solidFill>
            <a:srgbClr val="0EA5E9">
              <a:alpha val="90000"/>
            </a:srgbClr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46720" y="49377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implified Arabic" pitchFamily="34" charset="0"/>
                <a:ea typeface="Simplified Arabic" pitchFamily="34" charset="-122"/>
                <a:cs typeface="Simplified Arabic" pitchFamily="34" charset="-120"/>
              </a:rPr>
              <a:t>طلب جلسة تنفيذية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AQLIYA — منصة الحوكمة المؤسسية 2026</dc:title>
  <dc:subject>PptxGenJS Presentation</dc:subject>
  <dc:creator>AQLIYA</dc:creator>
  <cp:lastModifiedBy>AQLIYA</cp:lastModifiedBy>
  <cp:revision>1</cp:revision>
  <dcterms:created xsi:type="dcterms:W3CDTF">2026-06-05T03:29:12Z</dcterms:created>
  <dcterms:modified xsi:type="dcterms:W3CDTF">2026-06-05T03:29:12Z</dcterms:modified>
</cp:coreProperties>
</file>