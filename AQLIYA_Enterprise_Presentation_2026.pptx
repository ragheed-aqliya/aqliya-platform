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١: Hero
افتح بعبارة: "نحن هنا لأن لديكم تحدياً في الحوكمة — وليس مجرد حاجة لأداة ذكاء اصطناعي."
أوضح: AQLIYA ليست منصة ذكاء اصطناعي — هي منصة حوكمة مؤسسية. القرار دائماً للإنسان.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٢: التحديات
اسأل الجمهور: أيٌّ من هذه التحديات تعانون منه؟
الهدف: تأسيس الوعي بالمشكلة قبل تقديم الحل.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٣: تكلفة ضعف الحوكمة
أظهر أن المشكلة تتعاظم كلما تأخر التصحيح.
كل مكتب مراجعة يعاني من سلسلة مخاطر مشابهة إذا لم يكن لديه نظام للتوثيق والتتبع.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٤: مقارنة الأنظمة
أكد: نحن في فئة مختلفة — حوكمة مسار العمل.
الجمهور غير التقني سيفهم الفرق من خلال الأمثلة العملية.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٥: كيف تعمل AQLIYA
كل خطوة لها أثر: الأدلة تغذّي المراجعة، والمراجعة تمنح الاعتماد، والاعتماد يبني السجل.
هذا ليس مسار تقني — هو مسار حوكمة.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٦: مسار AuditOS
المراجعة البشرية (07) هي نقطة التحكم الأساسية — لا تصدير بدون موافقة.
أوضح أن كل مرحلة مرتبطة بالتالية برابط بيانات حقيقي.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٧: قيمة AuditOS
التركيز على: النظام يضاعف قدرة المراجع، لا يحل محله.
مثال: "تخيل أن كل ملاحظة مراجعة مرتبطة تلقائياً بالبند المالي وبالدليل الداعم."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٨: مسار LocalContentOS
اربط بمتطلبات هيئة المحتوى المحلي والصناعة السعودية.
الجمهور المستهدف: مدير المحتوى المحلي + مدير الامتثال.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٩: قيمة LocalContentOS
الرسالة: الامتثال للمحتوى المحلي لا يجب أن يكون أزمة موسمية.
مع LocalContentOS، البيانات جاهزة دائماً وموثوقة دائماً.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١٠: الحوكمة والثقة
هذه الشريحة للجمهور الأكثر تقنياً: مدير المراجعة ومدير الامتثال.
أكد: الحوكمة ليست ميزة إضافية — هي البنية الأساسية لكل نظام في AQLIYA.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١١: الذكاء المساعد
أهم رسالة: "نحن نعطيكم قدرة الذكاء الاصطناعي مع ضمان بقاء القرار بيدكم."
هذا يطمئن الإدارة العليا.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١٢: رحلة البايلوت
الرسالة الرئيسية: نبدأ صغيراً ومحدوداً.
الأسبوع الأول يُبنى بالتعاون مع فريق العميل.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١٣: النتائج المتوقعة
قدّم النتائج كمخرجات قابلة للقياس لا وعوداً.
استعرض كيف يُقاس كل نتيجة عملياً خلال فترة البايلوت.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١٤: لماذا AQLIYA
ملخص تنفيذي للإدارة العليا.
هذه الشريحة الأقوى للشراكة الاستراتيجية — اختتم بها النقاش مع الشريك التنفيذي.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١٥: الختام
اختتم بعبارة واضحة: "نحن جاهزون للبدء. ما الذي يمنعكم من تجربة نطاق واحد؟"
الخطوات الثلاث: التواصل ← تحديد النطاق ← بدء البايلوت.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828800"/>
            <a:ext cx="7772400" cy="7772400"/>
          </a:xfrm>
          <a:prstGeom prst="ellipse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1371600"/>
            <a:ext cx="4572000" cy="45720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pic>
        <p:nvPicPr>
          <p:cNvPr id="5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92608"/>
            <a:ext cx="21945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097280"/>
            <a:ext cx="5943600" cy="0"/>
          </a:xfrm>
          <a:prstGeom prst="line">
            <a:avLst/>
          </a:prstGeom>
          <a:noFill/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1234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AQLIYA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256032" y="2514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الحوكمة الذكية للمراجعة والمحتوى المحلي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56032" y="34015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AAC4E8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منصة حوكمة مؤسسية تحوّل المراجعة والمحتوى المحلي إلى مسارات موثقة قابلة للتتبع والمساءلة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56032" y="4251960"/>
            <a:ext cx="2926080" cy="960120"/>
          </a:xfrm>
          <a:prstGeom prst="rect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42793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يساعد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56032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56432" y="4251960"/>
            <a:ext cx="2926080" cy="96012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56432" y="42793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الإنسان يقرر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456432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decide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56832" y="4251960"/>
            <a:ext cx="2926080" cy="960120"/>
          </a:xfrm>
          <a:prstGeom prst="rect">
            <a:avLst/>
          </a:prstGeom>
          <a:solidFill>
            <a:srgbClr val="1E3A8A">
              <a:alpha val="30000"/>
            </a:srgbClr>
          </a:solidFill>
          <a:ln w="1270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56832" y="42793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الدليل يحكم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656832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governs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56032" y="628192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7A9E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مكتب مراجعة قانونية ومحتوى محلي — عرض مؤسسي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0F24"/>
          </a:solidFill>
          <a:ln w="12700">
            <a:solidFill>
              <a:srgbClr val="0A0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التحديات الحالية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98448"/>
            <a:ext cx="2176272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682496"/>
            <a:ext cx="768096" cy="768096"/>
          </a:xfrm>
          <a:prstGeom prst="ellipse">
            <a:avLst/>
          </a:prstGeom>
          <a:solidFill>
            <a:srgbClr val="1E3A8A">
              <a:alpha val="88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8249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" y="262432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تشتت الأدلة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2608" y="321868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Fragmentation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" y="3602736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معلومات موزعة على ملفات متفرقة بلا ترابط أو سياق واضح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23744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23744" y="1298448"/>
            <a:ext cx="2176272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1682496"/>
            <a:ext cx="768096" cy="768096"/>
          </a:xfrm>
          <a:prstGeom prst="ellipse">
            <a:avLst/>
          </a:prstGeom>
          <a:solidFill>
            <a:srgbClr val="2563EB">
              <a:alpha val="8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68249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15184" y="262432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الأعمال اليدوية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15184" y="321868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33472" y="3602736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مهام يدوية متكررة تستهلك وقت الفريق وتزيد الأخطاء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298448"/>
            <a:ext cx="217627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50408" y="1682496"/>
            <a:ext cx="768096" cy="768096"/>
          </a:xfrm>
          <a:prstGeom prst="ellipse">
            <a:avLst/>
          </a:prstGeom>
          <a:solidFill>
            <a:srgbClr val="0891B2">
              <a:alpha val="8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0408" y="168249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937760" y="262432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صعوبة التتبع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937760" y="321868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Gaps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6048" y="3602736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يمكن تتبع القرارات أو معرفة من راجع ماذا ومتى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68896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68896" y="1298448"/>
            <a:ext cx="217627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72984" y="1682496"/>
            <a:ext cx="768096" cy="768096"/>
          </a:xfrm>
          <a:prstGeom prst="ellipse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72984" y="168249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60336" y="262432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تعدد المراجعات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60336" y="321868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Overhead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78624" y="3602736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دورات مراجعة غير منظمة تعتمد على البريد والذاكرة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491472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491472" y="1298448"/>
            <a:ext cx="217627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95560" y="1682496"/>
            <a:ext cx="768096" cy="768096"/>
          </a:xfrm>
          <a:prstGeom prst="ellipse">
            <a:avLst/>
          </a:prstGeom>
          <a:solidFill>
            <a:srgbClr val="DC2626">
              <a:alpha val="88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95560" y="168249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582912" y="262432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متطلبات الامتثال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582912" y="321868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Burden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01200" y="3602736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تزايد متطلبات الجهات التنظيمية مع غياب الأدوات المناسبة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5257800"/>
            <a:ext cx="11247120" cy="530352"/>
          </a:xfrm>
          <a:prstGeom prst="rect">
            <a:avLst/>
          </a:prstGeom>
          <a:solidFill>
            <a:srgbClr val="E0EE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257800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هذه التحديات مجتمعةً تُكلّف المكاتب وقتاً ومصداقيةً وفرصاً للنمو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6858000" cy="6858000"/>
          </a:xfrm>
          <a:prstGeom prst="ellipse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28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تكلفة ضعف الحوكمة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228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Governance Failure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11612880" cy="0"/>
          </a:xfrm>
          <a:prstGeom prst="line">
            <a:avLst/>
          </a:prstGeom>
          <a:noFill/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0" y="2286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658368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426464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27889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قرار يُتخذ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80760" y="1984248"/>
            <a:ext cx="0" cy="146304"/>
          </a:xfrm>
          <a:prstGeom prst="line">
            <a:avLst/>
          </a:prstGeom>
          <a:noFill/>
          <a:ln w="254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130552"/>
            <a:ext cx="3566160" cy="658368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223113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130552"/>
            <a:ext cx="27889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تنفيذ بلا توثيق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080760" y="2788920"/>
            <a:ext cx="0" cy="146304"/>
          </a:xfrm>
          <a:prstGeom prst="line">
            <a:avLst/>
          </a:prstGeom>
          <a:noFill/>
          <a:ln w="254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935224"/>
            <a:ext cx="3566160" cy="658368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30358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935224"/>
            <a:ext cx="27889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خطأ يتجذّر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080760" y="3593592"/>
            <a:ext cx="0" cy="146304"/>
          </a:xfrm>
          <a:prstGeom prst="line">
            <a:avLst/>
          </a:prstGeom>
          <a:noFill/>
          <a:ln w="254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739896"/>
            <a:ext cx="3566160" cy="658368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384048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739896"/>
            <a:ext cx="27889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مخاطرة غير محسوبة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080760" y="4398264"/>
            <a:ext cx="0" cy="146304"/>
          </a:xfrm>
          <a:prstGeom prst="line">
            <a:avLst/>
          </a:prstGeom>
          <a:noFill/>
          <a:ln w="254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4544568"/>
            <a:ext cx="3566160" cy="65836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464515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4544568"/>
            <a:ext cx="27889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خسارة مالية أو قانونية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080760" y="5202936"/>
            <a:ext cx="0" cy="146304"/>
          </a:xfrm>
          <a:prstGeom prst="line">
            <a:avLst/>
          </a:prstGeom>
          <a:noFill/>
          <a:ln w="254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5349240"/>
            <a:ext cx="3566160" cy="658368"/>
          </a:xfrm>
          <a:prstGeom prst="rect">
            <a:avLst/>
          </a:prstGeom>
          <a:solidFill>
            <a:srgbClr val="9F1239">
              <a:alpha val="80000"/>
            </a:srgbClr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07408" y="5449824"/>
            <a:ext cx="457200" cy="457200"/>
          </a:xfrm>
          <a:prstGeom prst="ellipse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83480" y="5349240"/>
            <a:ext cx="27889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أثر على السمعة المهنية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955280" y="1737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i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"كل قرار غير موثق هو خطر مؤجل"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955280" y="2743200"/>
            <a:ext cx="3931920" cy="2926080"/>
          </a:xfrm>
          <a:prstGeom prst="rect">
            <a:avLst/>
          </a:prstGeom>
          <a:solidFill>
            <a:srgbClr val="1E3A8A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AC4E8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← اعتمادات غير موثقة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13816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AC4E8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← أدلة مفقودة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13816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AC4E8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← سجل تدقيق ناقص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138160" y="4617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AC4E8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← مساءلة مستحيلة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0F24"/>
          </a:solidFill>
          <a:ln w="12700">
            <a:solidFill>
              <a:srgbClr val="0A0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لماذا لا تكفي الأنظمة التقليدية؟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Systems Fall Short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256032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325880"/>
            <a:ext cx="2560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المقياس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325880"/>
            <a:ext cx="2011680" cy="548640"/>
          </a:xfrm>
          <a:prstGeom prst="rect">
            <a:avLst/>
          </a:prstGeom>
          <a:solidFill>
            <a:srgbClr val="47556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32588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ERP / Excel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325880"/>
            <a:ext cx="2286000" cy="548640"/>
          </a:xfrm>
          <a:prstGeom prst="rect">
            <a:avLst/>
          </a:prstGeom>
          <a:solidFill>
            <a:srgbClr val="47556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أدوات الذكاء الاصطناعي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23760" y="1325880"/>
            <a:ext cx="1645920" cy="548640"/>
          </a:xfrm>
          <a:prstGeom prst="rect">
            <a:avLst/>
          </a:prstGeom>
          <a:solidFill>
            <a:srgbClr val="47556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CRM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15400" y="1325880"/>
            <a:ext cx="2468880" cy="548640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AQLIYA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1920240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20240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مسار عمل محكوم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34640" y="1920240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2075688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جداول فقط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1920240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7024" y="2075688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848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نص غير منظم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1920240"/>
            <a:ext cx="1645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18704" y="2075688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0848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إدارة علاقات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15400" y="1920240"/>
            <a:ext cx="2468880" cy="566928"/>
          </a:xfrm>
          <a:prstGeom prst="rect">
            <a:avLst/>
          </a:prstGeom>
          <a:solidFill>
            <a:srgbClr val="EEF2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21824" y="207568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مسار متكامل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2542032"/>
            <a:ext cx="11155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542032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ربط الأدلة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834640" y="2542032"/>
            <a:ext cx="2011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2464" y="2697480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27066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يوجد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2542032"/>
            <a:ext cx="22860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07024" y="2697480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7066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يوجد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2542032"/>
            <a:ext cx="16459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18704" y="2697480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27066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يوجد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15400" y="2542032"/>
            <a:ext cx="2468880" cy="566928"/>
          </a:xfrm>
          <a:prstGeom prst="rect">
            <a:avLst/>
          </a:prstGeom>
          <a:solidFill>
            <a:srgbClr val="EEF2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021824" y="26974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15400" y="27066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سلسلة كاملة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3163824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163824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مراجعة بشرية إلزامية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834640" y="316382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12464" y="3319272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0" y="33284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يدوية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92040" y="3163824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07024" y="3319272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3284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غير موجودة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223760" y="3163824"/>
            <a:ext cx="1645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18704" y="3319272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33284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يدوية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915400" y="3163824"/>
            <a:ext cx="2468880" cy="566928"/>
          </a:xfrm>
          <a:prstGeom prst="rect">
            <a:avLst/>
          </a:prstGeom>
          <a:solidFill>
            <a:srgbClr val="EEF2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21824" y="331927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1540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بوابات محكومة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28600" y="3785616"/>
            <a:ext cx="11155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3785616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سجل تدقيق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2834640" y="3785616"/>
            <a:ext cx="2011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12464" y="3941064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34640" y="3950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غير موجود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92040" y="3785616"/>
            <a:ext cx="22860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07024" y="3941064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92040" y="39502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غير موجود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223760" y="3785616"/>
            <a:ext cx="16459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18704" y="3941064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23760" y="3950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محدود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915400" y="3785616"/>
            <a:ext cx="2468880" cy="566928"/>
          </a:xfrm>
          <a:prstGeom prst="rect">
            <a:avLst/>
          </a:prstGeom>
          <a:solidFill>
            <a:srgbClr val="EEF2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21824" y="394106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15400" y="3950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غير قابل للحذف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28600" y="4407408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407408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عربي RTL أصيل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834640" y="440740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12464" y="4562856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34640" y="4572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محدود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892040" y="4407408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07024" y="4562856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92040" y="4572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ضعيف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223760" y="4407408"/>
            <a:ext cx="1645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918704" y="4562856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23760" y="4572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يوجد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915400" y="4407408"/>
            <a:ext cx="2468880" cy="566928"/>
          </a:xfrm>
          <a:prstGeom prst="rect">
            <a:avLst/>
          </a:prstGeom>
          <a:solidFill>
            <a:srgbClr val="EEF2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021824" y="4562856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15400" y="4572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عربية أولاً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28600" y="5029200"/>
            <a:ext cx="11155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4320" y="5029200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محتوى محلي سعودي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2834640" y="5029200"/>
            <a:ext cx="2011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712464" y="5184648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834640" y="5193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يوجد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4892040" y="5029200"/>
            <a:ext cx="22860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07024" y="5184648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92040" y="5193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يوجد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223760" y="5029200"/>
            <a:ext cx="16459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918704" y="5184648"/>
            <a:ext cx="256032" cy="256032"/>
          </a:xfrm>
          <a:prstGeom prst="ellipse">
            <a:avLst/>
          </a:prstGeom>
          <a:solidFill>
            <a:srgbClr val="C2C2C2">
              <a:alpha val="50000"/>
            </a:srgbClr>
          </a:solidFill>
          <a:ln w="12700">
            <a:solidFill>
              <a:srgbClr val="C2C2C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23760" y="5193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يوجد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8915400" y="5029200"/>
            <a:ext cx="2468880" cy="566928"/>
          </a:xfrm>
          <a:prstGeom prst="rect">
            <a:avLst/>
          </a:prstGeom>
          <a:solidFill>
            <a:srgbClr val="EEF2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021824" y="518464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15400" y="5193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مدمج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كيف تعمل AQLIYA؟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AQLIYA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600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16002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202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441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الأدلة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84248" y="2446020"/>
            <a:ext cx="246888" cy="0"/>
          </a:xfrm>
          <a:prstGeom prst="line">
            <a:avLst/>
          </a:prstGeom>
          <a:noFill/>
          <a:ln w="1905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04288" y="1691640"/>
            <a:ext cx="1600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04288" y="1691640"/>
            <a:ext cx="16002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9202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04288" y="2441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المراجعة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04288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68496" y="2446020"/>
            <a:ext cx="246888" cy="0"/>
          </a:xfrm>
          <a:prstGeom prst="line">
            <a:avLst/>
          </a:prstGeom>
          <a:noFill/>
          <a:ln w="1905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88536" y="1691640"/>
            <a:ext cx="1600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88536" y="1691640"/>
            <a:ext cx="1600200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19202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88536" y="2441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القرار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88536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52744" y="2446020"/>
            <a:ext cx="246888" cy="0"/>
          </a:xfrm>
          <a:prstGeom prst="line">
            <a:avLst/>
          </a:prstGeom>
          <a:noFill/>
          <a:ln w="1905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1691640"/>
            <a:ext cx="1600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2784" y="1691640"/>
            <a:ext cx="16002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19202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72784" y="2441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الاعتماد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72784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36992" y="2446020"/>
            <a:ext cx="246888" cy="0"/>
          </a:xfrm>
          <a:prstGeom prst="line">
            <a:avLst/>
          </a:prstGeom>
          <a:noFill/>
          <a:ln w="190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7032" y="1691640"/>
            <a:ext cx="1600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57032" y="1691640"/>
            <a:ext cx="16002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19202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257032" y="2441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سجل التدقيق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57032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21240" y="2446020"/>
            <a:ext cx="246888" cy="0"/>
          </a:xfrm>
          <a:prstGeom prst="line">
            <a:avLst/>
          </a:prstGeom>
          <a:noFill/>
          <a:ln w="190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41280" y="1691640"/>
            <a:ext cx="1600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241280" y="1691640"/>
            <a:ext cx="1600200" cy="1645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0" y="19202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241280" y="2441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التقرير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41280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456432"/>
            <a:ext cx="11612880" cy="1737360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" y="376732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358444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مخرج مربوط بمصدره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96112" y="4114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linked to its source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70832" y="376732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58444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المراجعة البشرية إلزامية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736592" y="4114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is mandatory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11312" y="376732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7072" y="358444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سجل التدقيق غير قابل للحذف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577072" y="4114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is immutable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14400" y="5303520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يساعد · الإنسان يقرر · الدليل يحكم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AuditOS — مسار المراجعة المالية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مُثبت — L5 Pilot-ready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AuditOS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" y="1298448"/>
            <a:ext cx="11887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298448"/>
            <a:ext cx="11887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618488"/>
            <a:ext cx="585216" cy="5852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618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الارتباط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" y="2907792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تحديد النطاق والفترة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80744" y="3058668"/>
            <a:ext cx="45720" cy="0"/>
          </a:xfrm>
          <a:prstGeom prst="line">
            <a:avLst/>
          </a:prstGeom>
          <a:noFill/>
          <a:ln w="190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5608" y="1298448"/>
            <a:ext cx="11887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435608" y="1298448"/>
            <a:ext cx="118872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1618488"/>
            <a:ext cx="585216" cy="5852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1618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35608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ميزان المراجعة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90472" y="2907792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إدخال البيانات المالية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35608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33472" y="3058668"/>
            <a:ext cx="45720" cy="0"/>
          </a:xfrm>
          <a:prstGeom prst="line">
            <a:avLst/>
          </a:prstGeom>
          <a:noFill/>
          <a:ln w="190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88336" y="1298448"/>
            <a:ext cx="11887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88336" y="1298448"/>
            <a:ext cx="11887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90088" y="1618488"/>
            <a:ext cx="585216" cy="5852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0088" y="1618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88336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الربط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0" y="2907792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ربط الحسابات بالتصنيفات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88336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86200" y="3058668"/>
            <a:ext cx="45720" cy="0"/>
          </a:xfrm>
          <a:prstGeom prst="line">
            <a:avLst/>
          </a:prstGeom>
          <a:noFill/>
          <a:ln w="19050">
            <a:solidFill>
              <a:srgbClr val="1E3A8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41064" y="1298448"/>
            <a:ext cx="11887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41064" y="1298448"/>
            <a:ext cx="1188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42816" y="1618488"/>
            <a:ext cx="585216" cy="5852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42816" y="1618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41064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القوائم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95928" y="2907792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إعداد القوائم المالية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41064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38928" y="3058668"/>
            <a:ext cx="45720" cy="0"/>
          </a:xfrm>
          <a:prstGeom prst="line">
            <a:avLst/>
          </a:prstGeom>
          <a:noFill/>
          <a:ln w="190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93792" y="1298448"/>
            <a:ext cx="11887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193792" y="1298448"/>
            <a:ext cx="11887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95544" y="1618488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95544" y="1618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93792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الإيضاحات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48656" y="2907792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توثيق الإيضاحات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93792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91656" y="3058668"/>
            <a:ext cx="45720" cy="0"/>
          </a:xfrm>
          <a:prstGeom prst="line">
            <a:avLst/>
          </a:prstGeom>
          <a:noFill/>
          <a:ln w="190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46520" y="1298448"/>
            <a:ext cx="11887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46520" y="1298448"/>
            <a:ext cx="1188720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48272" y="1618488"/>
            <a:ext cx="585216" cy="58521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1618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46520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الأدلة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501384" y="2907792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ربط المستندات الداعمة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46520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644384" y="3058668"/>
            <a:ext cx="45720" cy="0"/>
          </a:xfrm>
          <a:prstGeom prst="line">
            <a:avLst/>
          </a:prstGeom>
          <a:noFill/>
          <a:ln w="19050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99248" y="1298448"/>
            <a:ext cx="11887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699248" y="1298448"/>
            <a:ext cx="11887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01000" y="1618488"/>
            <a:ext cx="58521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01000" y="1618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699248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المراجعة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754112" y="2907792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مراجعة بشرية إلزامية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699248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897112" y="3058668"/>
            <a:ext cx="45720" cy="0"/>
          </a:xfrm>
          <a:prstGeom prst="line">
            <a:avLst/>
          </a:prstGeom>
          <a:noFill/>
          <a:ln w="1905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51976" y="1298448"/>
            <a:ext cx="11887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951976" y="1298448"/>
            <a:ext cx="11887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53728" y="1618488"/>
            <a:ext cx="585216" cy="5852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53728" y="1618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951976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الاعتماد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006840" y="2907792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اعتماد محكوم موثق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951976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149840" y="3058668"/>
            <a:ext cx="45720" cy="0"/>
          </a:xfrm>
          <a:prstGeom prst="line">
            <a:avLst/>
          </a:prstGeom>
          <a:noFill/>
          <a:ln w="190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204704" y="1298448"/>
            <a:ext cx="11887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0204704" y="1298448"/>
            <a:ext cx="118872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06456" y="1618488"/>
            <a:ext cx="585216" cy="58521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506456" y="1618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10204704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التصدير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0259568" y="2907792"/>
            <a:ext cx="1078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تصدير التقارير النهائية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204704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74320" y="5029200"/>
            <a:ext cx="11612880" cy="594360"/>
          </a:xfrm>
          <a:prstGeom prst="rect">
            <a:avLst/>
          </a:prstGeom>
          <a:solidFill>
            <a:srgbClr val="FFFBE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5029200"/>
            <a:ext cx="1161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من ميزان المراجعة الخام إلى الاعتماد النهائي — كل خطوة موثقة، مرتبطة بالأدلة، وقابلة للتتبع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القيمة التشغيلية لـ AuditOS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AuditOS Operational Value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98448"/>
            <a:ext cx="2176272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1810512" cy="960120"/>
          </a:xfrm>
          <a:prstGeom prst="rect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↑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2608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رفع جودة المراجعة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مخرجات مرتبطة بالأدلة لا بالتخمين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23744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23744" y="1298448"/>
            <a:ext cx="2176272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6624" y="1682496"/>
            <a:ext cx="1810512" cy="96012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615184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توثيق كامل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3472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قرار موثق بالهوية والوقت والسياق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298448"/>
            <a:ext cx="217627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1682496"/>
            <a:ext cx="1810512" cy="9601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↓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937760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تقليل الأعمال اليدوية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56048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مسار آلي يحل محل المتابعة اليدوية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68896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68896" y="1298448"/>
            <a:ext cx="217627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1776" y="1682496"/>
            <a:ext cx="1810512" cy="96012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51776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👁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60336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شفافية كاملة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78624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خطوة مرئية ومتتبعة في أي وقت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491472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91472" y="1298448"/>
            <a:ext cx="217627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74352" y="1682496"/>
            <a:ext cx="1810512" cy="96012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74352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⚡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582912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جاهزية فورية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01200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حالة جاهزية الاعتماد واضحة في كل مرحلة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5257800"/>
            <a:ext cx="11612880" cy="530352"/>
          </a:xfrm>
          <a:prstGeom prst="rect">
            <a:avLst/>
          </a:prstGeom>
          <a:solidFill>
            <a:srgbClr val="E8F5E9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5257800"/>
            <a:ext cx="1161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AuditOS لا يستبدل المراجع — يمنحه أدوات تجعل عمله أكثر موثوقية وأسرع إنجازاً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LocalContentOS — قياس المحتوى المحلي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نشط — Pilot-ready بشروط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LocalContentOS Workflow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17830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1783080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20" y="1618488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23957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المشاريع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تسجيل المشاريع وتحديد نطاق الامتثال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4498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93976" y="3172968"/>
            <a:ext cx="128016" cy="0"/>
          </a:xfrm>
          <a:prstGeom prst="line">
            <a:avLst/>
          </a:prstGeom>
          <a:noFill/>
          <a:ln w="254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8568" y="1298448"/>
            <a:ext cx="17830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58568" y="1298448"/>
            <a:ext cx="178308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0068" y="161848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0068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58568" y="23957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الموردون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350008" y="30175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إدارة سجل الموردين وتصنيفهم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258568" y="4498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78224" y="3172968"/>
            <a:ext cx="128016" cy="0"/>
          </a:xfrm>
          <a:prstGeom prst="line">
            <a:avLst/>
          </a:prstGeom>
          <a:noFill/>
          <a:ln w="254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42816" y="1298448"/>
            <a:ext cx="17830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42816" y="1298448"/>
            <a:ext cx="178308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4316" y="1618488"/>
            <a:ext cx="640080" cy="6400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4316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42816" y="23957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الإنفاق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334256" y="30175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تتبع الإنفاق وربطه بالموردين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242816" y="4498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Tracking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62472" y="3172968"/>
            <a:ext cx="128016" cy="0"/>
          </a:xfrm>
          <a:prstGeom prst="line">
            <a:avLst/>
          </a:prstGeom>
          <a:noFill/>
          <a:ln w="2540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27064" y="1298448"/>
            <a:ext cx="17830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27064" y="1298448"/>
            <a:ext cx="178308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98564" y="1618488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8564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27064" y="23957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التصنيف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318504" y="30175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تصنيف الإنفاق وفق معايير المحتوى المحلي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227064" y="4498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46720" y="3172968"/>
            <a:ext cx="128016" cy="0"/>
          </a:xfrm>
          <a:prstGeom prst="line">
            <a:avLst/>
          </a:prstGeom>
          <a:noFill/>
          <a:ln w="254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11312" y="1298448"/>
            <a:ext cx="17830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11312" y="1298448"/>
            <a:ext cx="17830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82812" y="1618488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82812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11312" y="23957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الأدلة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302752" y="30175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رفع المستندات والأدلة الداعمة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211312" y="4498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030968" y="3172968"/>
            <a:ext cx="128016" cy="0"/>
          </a:xfrm>
          <a:prstGeom prst="line">
            <a:avLst/>
          </a:prstGeom>
          <a:noFill/>
          <a:ln w="254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95560" y="1298448"/>
            <a:ext cx="17830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195560" y="1298448"/>
            <a:ext cx="17830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67060" y="161848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67060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195560" y="23957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تقرير الامتثال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10287000" y="30175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توليد تقارير الامتثال للجهات التنظيمية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0195560" y="4498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5257800"/>
            <a:ext cx="11612880" cy="530352"/>
          </a:xfrm>
          <a:prstGeom prst="rect">
            <a:avLst/>
          </a:prstGeom>
          <a:solidFill>
            <a:srgbClr val="E0F7FA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5257800"/>
            <a:ext cx="1161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C7C9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من الموردين والإنفاق إلى تقارير الامتثال المعتمدة — كل خطوة في مسار واحد قابل للتتبع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القيمة التشغيلية للمحتوى المحلي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LocalContentOS Operational Value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98448"/>
            <a:ext cx="2176272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1810512" cy="960120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دقيق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2608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قياس المحتوى المحلي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نسب مؤكدة مرتبطة بالأدلة والموردين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23744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23744" y="1298448"/>
            <a:ext cx="2176272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6624" y="1682496"/>
            <a:ext cx="1810512" cy="96012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منظم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615184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إدارة الموردين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3472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سجل واضح ومصنف للموردين المحليين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298448"/>
            <a:ext cx="2176272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1682496"/>
            <a:ext cx="1810512" cy="960120"/>
          </a:xfrm>
          <a:prstGeom prst="rect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فورية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37760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جاهزية المراجعة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56048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التقارير جاهزة للجهات التنظيمية دائماً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68896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68896" y="1298448"/>
            <a:ext cx="217627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1776" y="1682496"/>
            <a:ext cx="1810512" cy="9601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51776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100%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260336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تتبع الإنفاق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78624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إنفاق مربوط بالمورد والمشروع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491472" y="1298448"/>
            <a:ext cx="21762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91472" y="1298448"/>
            <a:ext cx="217627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74352" y="1682496"/>
            <a:ext cx="1810512" cy="96012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74352" y="168249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آلية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582912" y="27432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تقارير الامتثال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01200" y="3401568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توليد التقارير بلمسة واحدة في أي وقت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5257800"/>
            <a:ext cx="11612880" cy="530352"/>
          </a:xfrm>
          <a:prstGeom prst="rect">
            <a:avLst/>
          </a:prstGeom>
          <a:solidFill>
            <a:srgbClr val="E0F7FA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5257800"/>
            <a:ext cx="1161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7598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LocalContentOS يمنح المكتب القدرة على إثبات الامتثال في أي وقت — لا في موسم التقارير فحسب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371600"/>
            <a:ext cx="6858000" cy="6858000"/>
          </a:xfrm>
          <a:prstGeom prst="ellipse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28600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الحوكمة والثقة المؤسسية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228600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Enterprise Trust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11612880" cy="0"/>
          </a:xfrm>
          <a:prstGeom prst="line">
            <a:avLst/>
          </a:prstGeom>
          <a:noFill/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0" y="2286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3566160" cy="1828800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61872"/>
            <a:ext cx="91440" cy="1828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99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سلسلة الأدلة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3969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0C8E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مخرج مربوط بمصدره وخطوات معالجته ومن راجعه واعتمده.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87952" y="1261872"/>
            <a:ext cx="3566160" cy="182880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87952" y="1261872"/>
            <a:ext cx="9144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1399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صلاحيات محكومة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70832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0832" y="213969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0C8E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RBAC كامل: من يقرأ، من يراجع، من يعتمد، ومن يصدّر.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1261872"/>
            <a:ext cx="3566160" cy="18288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1261872"/>
            <a:ext cx="91440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1399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سجل تدقيق كامل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84464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84464" y="213969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0C8E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حدث وتغيير وقرار مسجل بالهوية والوقت. غير قابل للحذف.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3566160" cy="182880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364992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02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مراجعة بشرية إلزامية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4281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0C8E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لا يُصدر مخرجاً نهائياً. كل مخرج يمر عبر موافقة إنسانية.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87952" y="3364992"/>
            <a:ext cx="3566160" cy="1828800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87952" y="3364992"/>
            <a:ext cx="91440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502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عزل تام بين المؤسسات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370832" y="4005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70832" y="424281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0C8E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مؤسسة في بيئتها المستقلة. لا تشارك بيانات ولا تداخل صلاحيات.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01584" y="3364992"/>
            <a:ext cx="3566160" cy="18288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1584" y="3364992"/>
            <a:ext cx="91440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84464" y="3502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حدود واضحة للذكاء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284464" y="4005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Boundary Rules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84464" y="424281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0C8E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مُقيَّد بدور المساعد: يقترح، يلخص، يصنف — لا يقرر أبداً.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D1B4B"/>
          </a:solidFill>
          <a:ln w="12700">
            <a:solidFill>
              <a:srgbClr val="1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المساعد — Assisted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assists. Humans decide.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5303520" cy="5074920"/>
          </a:xfrm>
          <a:prstGeom prst="rect">
            <a:avLst/>
          </a:prstGeom>
          <a:solidFill>
            <a:srgbClr val="1D1B4B">
              <a:alpha val="92000"/>
            </a:srgbClr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ما يفعله الذكاء الاصطناعي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" y="2048256"/>
            <a:ext cx="4974336" cy="585216"/>
          </a:xfrm>
          <a:prstGeom prst="rect">
            <a:avLst/>
          </a:prstGeom>
          <a:solidFill>
            <a:srgbClr val="2E1B54">
              <a:alpha val="80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176272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04825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D4B8FC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يقترح ربط الحسابات والتصنيفات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84632" y="2779776"/>
            <a:ext cx="4974336" cy="585216"/>
          </a:xfrm>
          <a:prstGeom prst="rect">
            <a:avLst/>
          </a:prstGeom>
          <a:solidFill>
            <a:srgbClr val="2E1B54">
              <a:alpha val="80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07792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77977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D4B8FC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يلخص الأدلة ويكشف الفجوات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84632" y="3511296"/>
            <a:ext cx="4974336" cy="585216"/>
          </a:xfrm>
          <a:prstGeom prst="rect">
            <a:avLst/>
          </a:prstGeom>
          <a:solidFill>
            <a:srgbClr val="2E1B54">
              <a:alpha val="80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639312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51129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D4B8FC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يرصد التناقضات والنواقص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84632" y="4242816"/>
            <a:ext cx="4974336" cy="585216"/>
          </a:xfrm>
          <a:prstGeom prst="rect">
            <a:avLst/>
          </a:prstGeom>
          <a:solidFill>
            <a:srgbClr val="2E1B54">
              <a:alpha val="80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370832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24281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D4B8FC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يولّد مسودات أولية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84632" y="4974336"/>
            <a:ext cx="4974336" cy="585216"/>
          </a:xfrm>
          <a:prstGeom prst="rect">
            <a:avLst/>
          </a:prstGeom>
          <a:solidFill>
            <a:srgbClr val="2E1B54">
              <a:alpha val="80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102352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D4B8FC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يرتّب النتائج ويوضحها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17920" y="1298448"/>
            <a:ext cx="5623560" cy="5074920"/>
          </a:xfrm>
          <a:prstGeom prst="rect">
            <a:avLst/>
          </a:prstGeom>
          <a:solidFill>
            <a:srgbClr val="F0FDF4">
              <a:alpha val="9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37160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ما يقوم به الإنسان دائماً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82512" y="2048256"/>
            <a:ext cx="5294376" cy="585216"/>
          </a:xfrm>
          <a:prstGeom prst="rect">
            <a:avLst/>
          </a:prstGeom>
          <a:solidFill>
            <a:srgbClr val="DCFCE7">
              <a:alpha val="8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216712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048256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يراجع كل مقترح ويقرر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58000" y="239572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المراجعة إلزامية — لا اعتماد تلقائي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82512" y="2779776"/>
            <a:ext cx="5294376" cy="585216"/>
          </a:xfrm>
          <a:prstGeom prst="rect">
            <a:avLst/>
          </a:prstGeom>
          <a:solidFill>
            <a:srgbClr val="DCFCE7">
              <a:alpha val="8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289864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779776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يعتمد أو يرفض أو يعدّل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58000" y="312724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الحكم المهني لا يتجاوزه النظام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82512" y="3511296"/>
            <a:ext cx="5294376" cy="585216"/>
          </a:xfrm>
          <a:prstGeom prst="rect">
            <a:avLst/>
          </a:prstGeom>
          <a:solidFill>
            <a:srgbClr val="DCFCE7">
              <a:alpha val="8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63016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511296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يحمل المسؤولية القانونية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858000" y="385876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النظام يساعد — المسؤولية للمراجع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82512" y="4242816"/>
            <a:ext cx="5294376" cy="585216"/>
          </a:xfrm>
          <a:prstGeom prst="rect">
            <a:avLst/>
          </a:prstGeom>
          <a:solidFill>
            <a:srgbClr val="DCFCE7">
              <a:alpha val="8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436168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4242816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يرفع الأدلة ويوثّق السياق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858000" y="459028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الإنسان هو مصدر الثقة الأول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82512" y="4974336"/>
            <a:ext cx="5294376" cy="585216"/>
          </a:xfrm>
          <a:prstGeom prst="rect">
            <a:avLst/>
          </a:prstGeom>
          <a:solidFill>
            <a:srgbClr val="DCFCE7">
              <a:alpha val="8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509320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4974336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يُصدر التقرير النهائي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858000" y="532180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تصدير بدون موافقة صريحة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0F24"/>
          </a:solidFill>
          <a:ln w="12700">
            <a:solidFill>
              <a:srgbClr val="0A0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رحلة التشغيل التجريبي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Journey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80744" y="1828800"/>
            <a:ext cx="9217152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1664208"/>
            <a:ext cx="512064" cy="512064"/>
          </a:xfrm>
          <a:prstGeom prst="ellipse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الأسبوع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2121408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04288"/>
            <a:ext cx="2121408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7860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الإعداد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" y="30906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474720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401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تحديد النطاق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09651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023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إعداد البيئة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645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تهيئة الصلاحيات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429000" y="166420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24328" y="126187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الأسبوع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24328" y="2304288"/>
            <a:ext cx="2121408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24328" y="2304288"/>
            <a:ext cx="2121408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24328" y="257860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البيانات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624328" y="30906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07208" y="347472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08376" y="3401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رفع ميزان المراجعة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807208" y="409651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08376" y="4023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تحميل بيانات الموردين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2807208" y="471830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08376" y="4645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مراجعة البيانات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733288" y="1664208"/>
            <a:ext cx="512064" cy="512064"/>
          </a:xfrm>
          <a:prstGeom prst="ellipse">
            <a:avLst/>
          </a:prstGeom>
          <a:solidFill>
            <a:srgbClr val="1E3A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3328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28616" y="126187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الأسبوع 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28616" y="2304288"/>
            <a:ext cx="2121408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28616" y="2304288"/>
            <a:ext cx="2121408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257860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التحقق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928616" y="30906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11496" y="3474720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12664" y="3401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اختبار المسارات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111496" y="4096512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12664" y="4023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التحقق من الربط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111496" y="4718304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12664" y="4645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مراجعة الأدلة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037576" y="1664208"/>
            <a:ext cx="512064" cy="512064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37576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232904" y="126187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الأسبوع 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232904" y="2304288"/>
            <a:ext cx="2121408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232904" y="2304288"/>
            <a:ext cx="212140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32904" y="257860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التدريب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232904" y="30906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15784" y="347472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16952" y="3401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تدريب الفريق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7415784" y="409651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16952" y="4023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توثيق العمليات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7415784" y="471830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16952" y="4645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الاختبار الموجَّه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10341864" y="1664208"/>
            <a:ext cx="512064" cy="51206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341864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9537192" y="126187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الأسابيع 5-8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537192" y="2304288"/>
            <a:ext cx="2121408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537192" y="2304288"/>
            <a:ext cx="2121408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37192" y="257860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البايلوت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9537192" y="30906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720072" y="34747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921240" y="3401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تشغيل فعلي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9720072" y="40965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21240" y="4023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مراجعة مستمرة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9720072" y="471830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921240" y="4645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قياس النتائج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274320" y="5989320"/>
            <a:ext cx="11612880" cy="59436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5989320"/>
            <a:ext cx="1161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نبدأ بنطاق واحد، بيانات حقيقية، ومعايير نجاح واضحة — الشفافية الكاملة مضمونة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C1A3D"/>
          </a:solidFill>
          <a:ln w="12700">
            <a:solidFill>
              <a:srgbClr val="0C1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النتائج المتوقعة من البايلوت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Pilot Outcomes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2176272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98448"/>
            <a:ext cx="2176272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682496"/>
            <a:ext cx="1719072" cy="960120"/>
          </a:xfrm>
          <a:prstGeom prst="rect">
            <a:avLst/>
          </a:prstGeom>
          <a:solidFill>
            <a:srgbClr val="1E3A8A">
              <a:alpha val="1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682496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↑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92608" y="276148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رفع جودة الحوكمة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" y="3429000"/>
            <a:ext cx="19568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قرار ومخرج موثق بالكامل مع سلسلة أدلة لا يمكن التشكيك فيها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05456" y="1298448"/>
            <a:ext cx="2176272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05456" y="1298448"/>
            <a:ext cx="2176272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34056" y="1682496"/>
            <a:ext cx="1719072" cy="96012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34056" y="1682496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↑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2596896" y="276148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جودة المراجعة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15184" y="3429000"/>
            <a:ext cx="19568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مراجعات مرتبطة بالأدلة الحقيقية لا بالذاكرة أو الملفات المتفرقة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9744" y="1298448"/>
            <a:ext cx="2176272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1298448"/>
            <a:ext cx="2176272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38344" y="1682496"/>
            <a:ext cx="1719072" cy="960120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38344" y="1682496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↓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901184" y="276148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وقت الدورة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9472" y="3429000"/>
            <a:ext cx="19568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تقليل الوقت المهدر في المتابعة وإعادة العمل والبحث عن المعلومات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14032" y="1298448"/>
            <a:ext cx="2176272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14032" y="1298448"/>
            <a:ext cx="217627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42632" y="1682496"/>
            <a:ext cx="1719072" cy="9601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2632" y="1682496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✓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7205472" y="276148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الامتثال التنظيمي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23760" y="3429000"/>
            <a:ext cx="19568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تقارير جاهزة للجهات التنظيمية في أي وقت بشكل مدعوم بالأدلة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418320" y="1298448"/>
            <a:ext cx="2176272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18320" y="1298448"/>
            <a:ext cx="217627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46920" y="1682496"/>
            <a:ext cx="1719072" cy="9601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6920" y="1682496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↑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9509760" y="276148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المعرفة المؤسسية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28048" y="3429000"/>
            <a:ext cx="19568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المعرفة تبقى في النظام ولا تضيع عند تغيير الأفراد أو الفرق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5468112"/>
            <a:ext cx="11612880" cy="685800"/>
          </a:xfrm>
          <a:prstGeom prst="rect">
            <a:avLst/>
          </a:prstGeom>
          <a:solidFill>
            <a:srgbClr val="0C1A3D"/>
          </a:solidFill>
          <a:ln w="12700">
            <a:solidFill>
              <a:srgbClr val="0C1A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5468112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هذه النتائج ليست وعوداً — هي مخرجات قابلة للقياس ضمن شروط البايلوت المتفق عليها مسبقاً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0F24"/>
          </a:solidFill>
          <a:ln w="12700">
            <a:solidFill>
              <a:srgbClr val="0A0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لماذا AQLIYA؟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AQLIYA — 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21440" y="182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36118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3611880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" y="1600200"/>
            <a:ext cx="585216" cy="585216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7652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عربية أولاً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" y="28163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090672"/>
            <a:ext cx="3392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مبنية من الأساس للغة العربية وبيئة العمل السعودية — ليست ترجمة لمنتج غربي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1298448"/>
            <a:ext cx="36118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0" y="1298448"/>
            <a:ext cx="361188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8132" y="1600200"/>
            <a:ext cx="585216" cy="585216"/>
          </a:xfrm>
          <a:prstGeom prst="ellipse">
            <a:avLst/>
          </a:prstGeom>
          <a:solidFill>
            <a:srgbClr val="1E3A8A">
              <a:alpha val="90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8132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23042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مبنية للحوكمة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0" y="28163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Governance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24528" y="3090672"/>
            <a:ext cx="3392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الحوكمة ليست ميزة — هي البنية الأساسية لكل نظام في المنصة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55280" y="1298448"/>
            <a:ext cx="36118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55280" y="1298448"/>
            <a:ext cx="361188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8612" y="1600200"/>
            <a:ext cx="585216" cy="585216"/>
          </a:xfrm>
          <a:prstGeom prst="ellipse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8612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0" y="23042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تدعم المراجعة والمحتوى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55280" y="28163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LC Ready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65008" y="3090672"/>
            <a:ext cx="3392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نظامان جاهزان للتشغيل التجريبي على بياناتكم الفعلية الآن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74320" y="3639312"/>
            <a:ext cx="54406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39312"/>
            <a:ext cx="54406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858768"/>
            <a:ext cx="548640" cy="548640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8016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الإنسان يقرر دائماً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280160" y="43525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80160" y="464515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قرار نهائي بدون موافقة إنسانية — الذكاء يساعد ويقترح فقط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172200" y="3639312"/>
            <a:ext cx="54406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639312"/>
            <a:ext cx="544068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3858768"/>
            <a:ext cx="548640" cy="548640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7804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جاهزون للبدء معكم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7178040" y="43525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Pilot-Ready Today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78040" y="464515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نبدأ بنطاق محدود، بيانات حقيقية، ومعايير نجاح واضحة ومتفق عليها مسبقاً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828800"/>
            <a:ext cx="8229600" cy="8229600"/>
          </a:xfrm>
          <a:prstGeom prst="ellipse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2286000"/>
            <a:ext cx="5029200" cy="50292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pic>
        <p:nvPicPr>
          <p:cNvPr id="6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92608"/>
            <a:ext cx="21945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" y="1353312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من المعلومات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256032" y="2148840"/>
            <a:ext cx="5943600" cy="0"/>
          </a:xfrm>
          <a:prstGeom prst="line">
            <a:avLst/>
          </a:prstGeom>
          <a:noFill/>
          <a:ln w="1905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2240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إلى المعرفة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256032" y="3035808"/>
            <a:ext cx="5943600" cy="0"/>
          </a:xfrm>
          <a:prstGeom prst="line">
            <a:avLst/>
          </a:prstGeom>
          <a:noFill/>
          <a:ln w="1905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312724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إلى قرارات موثقة وقابلة للمساءلة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256032" y="4096512"/>
            <a:ext cx="7498080" cy="658368"/>
          </a:xfrm>
          <a:prstGeom prst="rect">
            <a:avLst/>
          </a:prstGeom>
          <a:solidFill>
            <a:srgbClr val="1E3A8A">
              <a:alpha val="3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4096512"/>
            <a:ext cx="74980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يساعد · الإنسان يقرر · الدليل يحكم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56032" y="50109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للتواصل: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56032" y="53675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ragheed@aqliya.com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56032" y="5742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A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aqliya.com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63840" y="4892040"/>
            <a:ext cx="4023360" cy="841248"/>
          </a:xfrm>
          <a:prstGeom prst="rect">
            <a:avLst/>
          </a:prstGeom>
          <a:solidFill>
            <a:srgbClr val="0EA5E9">
              <a:alpha val="88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489204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طلب جلسة تنفيذية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AQLIYA — عرض مؤسسي 2026</dc:title>
  <dc:subject>Governed Enterprise Intelligence Platform</dc:subject>
  <dc:creator>AQLIYA</dc:creator>
  <cp:lastModifiedBy>AQLIYA</cp:lastModifiedBy>
  <cp:revision>1</cp:revision>
  <dcterms:created xsi:type="dcterms:W3CDTF">2026-06-04T23:51:27Z</dcterms:created>
  <dcterms:modified xsi:type="dcterms:W3CDTF">2026-06-04T23:51:27Z</dcterms:modified>
</cp:coreProperties>
</file>